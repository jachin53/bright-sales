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rmorant Garamond Bold Italics" charset="1" panose="00000800000000000000"/>
      <p:regular r:id="rId18"/>
    </p:embeddedFont>
    <p:embeddedFont>
      <p:font typeface="Quicksand" charset="1" panose="00000000000000000000"/>
      <p:regular r:id="rId19"/>
    </p:embeddedFont>
    <p:embeddedFont>
      <p:font typeface="Quicksand Bold" charset="1" panose="00000000000000000000"/>
      <p:regular r:id="rId20"/>
    </p:embeddedFont>
    <p:embeddedFont>
      <p:font typeface="Arial" charset="1" panose="020B0604020202020204"/>
      <p:regular r:id="rId21"/>
    </p:embeddedFont>
    <p:embeddedFont>
      <p:font typeface="Arial Bold" charset="1" panose="020B0704020202020204"/>
      <p:regular r:id="rId22"/>
    </p:embeddedFont>
    <p:embeddedFont>
      <p:font typeface="Poppins Bold" charset="1" panose="00000800000000000000"/>
      <p:regular r:id="rId23"/>
    </p:embeddedFont>
    <p:embeddedFont>
      <p:font typeface="Arial Italics" charset="1" panose="020B0604020202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7147" y="2617116"/>
            <a:ext cx="15596559" cy="304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94"/>
              </a:lnSpc>
              <a:spcBef>
                <a:spcPct val="0"/>
              </a:spcBef>
            </a:pPr>
            <a:r>
              <a:rPr lang="en-US" b="true" sz="17852" i="true">
                <a:solidFill>
                  <a:srgbClr val="FF914D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Bright SALES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1044593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71510"/>
            <a:ext cx="2740160" cy="407599"/>
          </a:xfrm>
          <a:custGeom>
            <a:avLst/>
            <a:gdLst/>
            <a:ahLst/>
            <a:cxnLst/>
            <a:rect r="r" b="b" t="t" l="l"/>
            <a:pathLst>
              <a:path h="407599" w="2740160">
                <a:moveTo>
                  <a:pt x="0" y="0"/>
                </a:moveTo>
                <a:lnTo>
                  <a:pt x="2740160" y="0"/>
                </a:lnTo>
                <a:lnTo>
                  <a:pt x="2740160" y="407598"/>
                </a:lnTo>
                <a:lnTo>
                  <a:pt x="0" y="40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79412" y="5997836"/>
            <a:ext cx="11271049" cy="74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Enhancing Sales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JAN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60435" y="839678"/>
            <a:ext cx="2755161" cy="409830"/>
          </a:xfrm>
          <a:custGeom>
            <a:avLst/>
            <a:gdLst/>
            <a:ahLst/>
            <a:cxnLst/>
            <a:rect r="r" b="b" t="t" l="l"/>
            <a:pathLst>
              <a:path h="409830" w="2755161">
                <a:moveTo>
                  <a:pt x="0" y="0"/>
                </a:moveTo>
                <a:lnTo>
                  <a:pt x="2755161" y="0"/>
                </a:lnTo>
                <a:lnTo>
                  <a:pt x="2755161" y="409830"/>
                </a:lnTo>
                <a:lnTo>
                  <a:pt x="0" y="409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3005433" y="2840292"/>
            <a:ext cx="633491" cy="484909"/>
          </a:xfrm>
          <a:custGeom>
            <a:avLst/>
            <a:gdLst/>
            <a:ahLst/>
            <a:cxnLst/>
            <a:rect r="r" b="b" t="t" l="l"/>
            <a:pathLst>
              <a:path h="484909" w="633491">
                <a:moveTo>
                  <a:pt x="633491" y="0"/>
                </a:moveTo>
                <a:lnTo>
                  <a:pt x="0" y="0"/>
                </a:lnTo>
                <a:lnTo>
                  <a:pt x="0" y="484909"/>
                </a:lnTo>
                <a:lnTo>
                  <a:pt x="633491" y="484909"/>
                </a:lnTo>
                <a:lnTo>
                  <a:pt x="6334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9958" y="1579603"/>
            <a:ext cx="4364106" cy="6123210"/>
            <a:chOff x="0" y="0"/>
            <a:chExt cx="1149394" cy="1612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394" cy="1612697"/>
            </a:xfrm>
            <a:custGeom>
              <a:avLst/>
              <a:gdLst/>
              <a:ahLst/>
              <a:cxnLst/>
              <a:rect r="r" b="b" t="t" l="l"/>
              <a:pathLst>
                <a:path h="1612697" w="1149394">
                  <a:moveTo>
                    <a:pt x="90474" y="0"/>
                  </a:moveTo>
                  <a:lnTo>
                    <a:pt x="1058920" y="0"/>
                  </a:lnTo>
                  <a:cubicBezTo>
                    <a:pt x="1108888" y="0"/>
                    <a:pt x="1149394" y="40507"/>
                    <a:pt x="1149394" y="90474"/>
                  </a:cubicBezTo>
                  <a:lnTo>
                    <a:pt x="1149394" y="1522223"/>
                  </a:lnTo>
                  <a:cubicBezTo>
                    <a:pt x="1149394" y="1546218"/>
                    <a:pt x="1139862" y="1569231"/>
                    <a:pt x="1122895" y="1586198"/>
                  </a:cubicBezTo>
                  <a:cubicBezTo>
                    <a:pt x="1105928" y="1603165"/>
                    <a:pt x="1082915" y="1612697"/>
                    <a:pt x="1058920" y="1612697"/>
                  </a:cubicBezTo>
                  <a:lnTo>
                    <a:pt x="90474" y="1612697"/>
                  </a:lnTo>
                  <a:cubicBezTo>
                    <a:pt x="66479" y="1612697"/>
                    <a:pt x="43466" y="1603165"/>
                    <a:pt x="26499" y="1586198"/>
                  </a:cubicBezTo>
                  <a:cubicBezTo>
                    <a:pt x="9532" y="1569231"/>
                    <a:pt x="0" y="1546218"/>
                    <a:pt x="0" y="1522223"/>
                  </a:cubicBezTo>
                  <a:lnTo>
                    <a:pt x="0" y="90474"/>
                  </a:lnTo>
                  <a:cubicBezTo>
                    <a:pt x="0" y="66479"/>
                    <a:pt x="9532" y="43466"/>
                    <a:pt x="26499" y="26499"/>
                  </a:cubicBezTo>
                  <a:cubicBezTo>
                    <a:pt x="43466" y="9532"/>
                    <a:pt x="66479" y="0"/>
                    <a:pt x="90474" y="0"/>
                  </a:cubicBezTo>
                  <a:close/>
                </a:path>
              </a:pathLst>
            </a:custGeom>
            <a:solidFill>
              <a:srgbClr val="0F4662"/>
            </a:solidFill>
            <a:ln w="28575" cap="rnd">
              <a:solidFill>
                <a:srgbClr val="E7703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149394" cy="173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29655" y="1948644"/>
            <a:ext cx="1483038" cy="1483038"/>
          </a:xfrm>
          <a:custGeom>
            <a:avLst/>
            <a:gdLst/>
            <a:ahLst/>
            <a:cxnLst/>
            <a:rect r="r" b="b" t="t" l="l"/>
            <a:pathLst>
              <a:path h="1483038" w="1483038">
                <a:moveTo>
                  <a:pt x="0" y="0"/>
                </a:moveTo>
                <a:lnTo>
                  <a:pt x="1483038" y="0"/>
                </a:lnTo>
                <a:lnTo>
                  <a:pt x="1483038" y="1483038"/>
                </a:lnTo>
                <a:lnTo>
                  <a:pt x="0" y="14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57906" y="1579603"/>
            <a:ext cx="4029677" cy="6123210"/>
            <a:chOff x="0" y="0"/>
            <a:chExt cx="1061314" cy="1612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1314" cy="1612697"/>
            </a:xfrm>
            <a:custGeom>
              <a:avLst/>
              <a:gdLst/>
              <a:ahLst/>
              <a:cxnLst/>
              <a:rect r="r" b="b" t="t" l="l"/>
              <a:pathLst>
                <a:path h="1612697" w="1061314">
                  <a:moveTo>
                    <a:pt x="97983" y="0"/>
                  </a:moveTo>
                  <a:lnTo>
                    <a:pt x="963332" y="0"/>
                  </a:lnTo>
                  <a:cubicBezTo>
                    <a:pt x="989318" y="0"/>
                    <a:pt x="1014240" y="10323"/>
                    <a:pt x="1032616" y="28698"/>
                  </a:cubicBezTo>
                  <a:cubicBezTo>
                    <a:pt x="1050991" y="47074"/>
                    <a:pt x="1061314" y="71996"/>
                    <a:pt x="1061314" y="97983"/>
                  </a:cubicBezTo>
                  <a:lnTo>
                    <a:pt x="1061314" y="1514715"/>
                  </a:lnTo>
                  <a:cubicBezTo>
                    <a:pt x="1061314" y="1540701"/>
                    <a:pt x="1050991" y="1565624"/>
                    <a:pt x="1032616" y="1583999"/>
                  </a:cubicBezTo>
                  <a:cubicBezTo>
                    <a:pt x="1014240" y="1602374"/>
                    <a:pt x="989318" y="1612697"/>
                    <a:pt x="963332" y="1612697"/>
                  </a:cubicBezTo>
                  <a:lnTo>
                    <a:pt x="97983" y="1612697"/>
                  </a:lnTo>
                  <a:cubicBezTo>
                    <a:pt x="71996" y="1612697"/>
                    <a:pt x="47074" y="1602374"/>
                    <a:pt x="28698" y="1583999"/>
                  </a:cubicBezTo>
                  <a:cubicBezTo>
                    <a:pt x="10323" y="1565624"/>
                    <a:pt x="0" y="1540701"/>
                    <a:pt x="0" y="1514715"/>
                  </a:cubicBezTo>
                  <a:lnTo>
                    <a:pt x="0" y="97983"/>
                  </a:lnTo>
                  <a:cubicBezTo>
                    <a:pt x="0" y="71996"/>
                    <a:pt x="10323" y="47074"/>
                    <a:pt x="28698" y="28698"/>
                  </a:cubicBezTo>
                  <a:cubicBezTo>
                    <a:pt x="47074" y="10323"/>
                    <a:pt x="71996" y="0"/>
                    <a:pt x="97983" y="0"/>
                  </a:cubicBezTo>
                  <a:close/>
                </a:path>
              </a:pathLst>
            </a:custGeom>
            <a:solidFill>
              <a:srgbClr val="0F4662"/>
            </a:solidFill>
            <a:ln w="28575" cap="rnd">
              <a:solidFill>
                <a:srgbClr val="E8703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061314" cy="173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61651" y="1948644"/>
            <a:ext cx="1284702" cy="1301263"/>
          </a:xfrm>
          <a:custGeom>
            <a:avLst/>
            <a:gdLst/>
            <a:ahLst/>
            <a:cxnLst/>
            <a:rect r="r" b="b" t="t" l="l"/>
            <a:pathLst>
              <a:path h="1301263" w="1284702">
                <a:moveTo>
                  <a:pt x="0" y="0"/>
                </a:moveTo>
                <a:lnTo>
                  <a:pt x="1284701" y="0"/>
                </a:lnTo>
                <a:lnTo>
                  <a:pt x="1284701" y="1301263"/>
                </a:lnTo>
                <a:lnTo>
                  <a:pt x="0" y="130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282333" y="1579603"/>
            <a:ext cx="3714390" cy="6123210"/>
            <a:chOff x="0" y="0"/>
            <a:chExt cx="978276" cy="1612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8276" cy="1612697"/>
            </a:xfrm>
            <a:custGeom>
              <a:avLst/>
              <a:gdLst/>
              <a:ahLst/>
              <a:cxnLst/>
              <a:rect r="r" b="b" t="t" l="l"/>
              <a:pathLst>
                <a:path h="1612697" w="978276">
                  <a:moveTo>
                    <a:pt x="106300" y="0"/>
                  </a:moveTo>
                  <a:lnTo>
                    <a:pt x="871976" y="0"/>
                  </a:lnTo>
                  <a:cubicBezTo>
                    <a:pt x="930684" y="0"/>
                    <a:pt x="978276" y="47592"/>
                    <a:pt x="978276" y="106300"/>
                  </a:cubicBezTo>
                  <a:lnTo>
                    <a:pt x="978276" y="1506398"/>
                  </a:lnTo>
                  <a:cubicBezTo>
                    <a:pt x="978276" y="1534590"/>
                    <a:pt x="967076" y="1561628"/>
                    <a:pt x="947141" y="1581563"/>
                  </a:cubicBezTo>
                  <a:cubicBezTo>
                    <a:pt x="927206" y="1601498"/>
                    <a:pt x="900169" y="1612697"/>
                    <a:pt x="871976" y="1612697"/>
                  </a:cubicBezTo>
                  <a:lnTo>
                    <a:pt x="106300" y="1612697"/>
                  </a:lnTo>
                  <a:cubicBezTo>
                    <a:pt x="47592" y="1612697"/>
                    <a:pt x="0" y="1565105"/>
                    <a:pt x="0" y="1506398"/>
                  </a:cubicBezTo>
                  <a:lnTo>
                    <a:pt x="0" y="106300"/>
                  </a:lnTo>
                  <a:cubicBezTo>
                    <a:pt x="0" y="47592"/>
                    <a:pt x="47592" y="0"/>
                    <a:pt x="106300" y="0"/>
                  </a:cubicBezTo>
                  <a:close/>
                </a:path>
              </a:pathLst>
            </a:custGeom>
            <a:solidFill>
              <a:srgbClr val="0F4662"/>
            </a:solidFill>
            <a:ln w="28575" cap="rnd">
              <a:solidFill>
                <a:srgbClr val="E8703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978276" cy="173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384086" y="1829310"/>
            <a:ext cx="1510886" cy="1510886"/>
          </a:xfrm>
          <a:custGeom>
            <a:avLst/>
            <a:gdLst/>
            <a:ahLst/>
            <a:cxnLst/>
            <a:rect r="r" b="b" t="t" l="l"/>
            <a:pathLst>
              <a:path h="1510886" w="1510886">
                <a:moveTo>
                  <a:pt x="0" y="0"/>
                </a:moveTo>
                <a:lnTo>
                  <a:pt x="1510885" y="0"/>
                </a:lnTo>
                <a:lnTo>
                  <a:pt x="1510885" y="1510886"/>
                </a:lnTo>
                <a:lnTo>
                  <a:pt x="0" y="1510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7838" y="3720607"/>
            <a:ext cx="3706672" cy="42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</a:p>
          <a:p>
            <a:pPr algn="l" marL="398049" indent="-199024" lvl="1">
              <a:lnSpc>
                <a:spcPts val="3134"/>
              </a:lnSpc>
              <a:buFont typeface="Arial"/>
              <a:buChar char="•"/>
            </a:pPr>
            <a:r>
              <a:rPr lang="en-US" sz="1843">
                <a:solidFill>
                  <a:srgbClr val="FF751F"/>
                </a:solidFill>
                <a:latin typeface="Quicksand"/>
                <a:ea typeface="Quicksand"/>
                <a:cs typeface="Quicksand"/>
                <a:sym typeface="Quicksand"/>
              </a:rPr>
              <a:t>Review overall sales performance and historical trends</a:t>
            </a:r>
          </a:p>
          <a:p>
            <a:pPr algn="l" marL="398049" indent="-199024" lvl="1">
              <a:lnSpc>
                <a:spcPts val="3134"/>
              </a:lnSpc>
              <a:buFont typeface="Arial"/>
              <a:buChar char="•"/>
            </a:pPr>
            <a:r>
              <a:rPr lang="en-US" sz="1843">
                <a:solidFill>
                  <a:srgbClr val="FF751F"/>
                </a:solidFill>
                <a:latin typeface="Quicksand"/>
                <a:ea typeface="Quicksand"/>
                <a:cs typeface="Quicksand"/>
                <a:sym typeface="Quicksand"/>
              </a:rPr>
              <a:t>Examine quantity sold across weekly, monthly, quarterly, and seasonal dimensions</a:t>
            </a:r>
          </a:p>
          <a:p>
            <a:pPr algn="l" marL="398049" indent="-199024" lvl="1">
              <a:lnSpc>
                <a:spcPts val="3134"/>
              </a:lnSpc>
              <a:buFont typeface="Arial"/>
              <a:buChar char="•"/>
            </a:pPr>
            <a:r>
              <a:rPr lang="en-US" sz="1843">
                <a:solidFill>
                  <a:srgbClr val="FF751F"/>
                </a:solidFill>
                <a:latin typeface="Quicksand"/>
                <a:ea typeface="Quicksand"/>
                <a:cs typeface="Quicksand"/>
                <a:sym typeface="Quicksand"/>
              </a:rPr>
              <a:t>Identify margin and cost efficiency challenges</a:t>
            </a:r>
          </a:p>
          <a:p>
            <a:pPr algn="l">
              <a:lnSpc>
                <a:spcPts val="3134"/>
              </a:lnSpc>
            </a:pPr>
          </a:p>
          <a:p>
            <a:pPr algn="l">
              <a:lnSpc>
                <a:spcPts val="313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82157" y="3571382"/>
            <a:ext cx="23197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751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Analysis Phase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37099" y="4094436"/>
            <a:ext cx="3138389" cy="309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061" indent="-199530" lvl="1">
              <a:lnSpc>
                <a:spcPts val="3142"/>
              </a:lnSpc>
              <a:buFont typeface="Arial"/>
              <a:buChar char="•"/>
            </a:pPr>
            <a:r>
              <a:rPr lang="en-US" sz="1848">
                <a:solidFill>
                  <a:srgbClr val="E77031"/>
                </a:solidFill>
                <a:latin typeface="Quicksand"/>
                <a:ea typeface="Quicksand"/>
                <a:cs typeface="Quicksand"/>
                <a:sym typeface="Quicksand"/>
              </a:rPr>
              <a:t>Outline And Define key actions: portfolio audit, segmentation, incentive realignment, and efficiency improvements</a:t>
            </a:r>
          </a:p>
          <a:p>
            <a:pPr algn="l" marL="399061" indent="-199530" lvl="1">
              <a:lnSpc>
                <a:spcPts val="3142"/>
              </a:lnSpc>
              <a:buFont typeface="Arial"/>
              <a:buChar char="•"/>
            </a:pPr>
            <a:r>
              <a:rPr lang="en-US" sz="1848">
                <a:solidFill>
                  <a:srgbClr val="E77031"/>
                </a:solidFill>
                <a:latin typeface="Quicksand"/>
                <a:ea typeface="Quicksand"/>
                <a:cs typeface="Quicksand"/>
                <a:sym typeface="Quicksand"/>
              </a:rPr>
              <a:t>Establish objectives for sustainable profitability and growth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47460" y="3547646"/>
            <a:ext cx="262802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E7703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Strategy Proposal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13895" y="4094436"/>
            <a:ext cx="3251267" cy="201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072" indent="-206036" lvl="1">
              <a:lnSpc>
                <a:spcPts val="3244"/>
              </a:lnSpc>
              <a:buFont typeface="Arial"/>
              <a:buChar char="•"/>
            </a:pPr>
            <a:r>
              <a:rPr lang="en-US" sz="1908">
                <a:solidFill>
                  <a:srgbClr val="FF751F"/>
                </a:solidFill>
                <a:latin typeface="Quicksand"/>
                <a:ea typeface="Quicksand"/>
                <a:cs typeface="Quicksand"/>
                <a:sym typeface="Quicksand"/>
              </a:rPr>
              <a:t>Present profit-focused campaign concepts (Smart Value, Premium Picks, Profit Pulse, Seasonal Shift)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37720" y="3541739"/>
            <a:ext cx="300361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751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Marketing Cameigns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226770" y="-138430"/>
            <a:ext cx="18741541" cy="1247775"/>
            <a:chOff x="0" y="0"/>
            <a:chExt cx="4936044" cy="3286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39199" y="-114300"/>
            <a:ext cx="401893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AGENDA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028700" y="9397022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8304001" y="9545864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7" y="0"/>
                </a:lnTo>
                <a:lnTo>
                  <a:pt x="1571487" y="233759"/>
                </a:lnTo>
                <a:lnTo>
                  <a:pt x="0" y="233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20200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45864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7" y="0"/>
                </a:lnTo>
                <a:lnTo>
                  <a:pt x="1571487" y="233759"/>
                </a:lnTo>
                <a:lnTo>
                  <a:pt x="0" y="23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172165"/>
            <a:ext cx="8115300" cy="4585145"/>
          </a:xfrm>
          <a:custGeom>
            <a:avLst/>
            <a:gdLst/>
            <a:ahLst/>
            <a:cxnLst/>
            <a:rect r="r" b="b" t="t" l="l"/>
            <a:pathLst>
              <a:path h="4585145" w="8115300">
                <a:moveTo>
                  <a:pt x="0" y="0"/>
                </a:moveTo>
                <a:lnTo>
                  <a:pt x="8115300" y="0"/>
                </a:lnTo>
                <a:lnTo>
                  <a:pt x="8115300" y="4585145"/>
                </a:lnTo>
                <a:lnTo>
                  <a:pt x="0" y="4585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E87031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353803" y="5799219"/>
            <a:ext cx="8092350" cy="336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828" spc="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📆</a:t>
            </a:r>
            <a:r>
              <a:rPr lang="en-US" sz="1828" spc="210" b="true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 Monthly Sales Insights</a:t>
            </a:r>
          </a:p>
          <a:p>
            <a:pPr algn="l" marL="371451" indent="-185726" lvl="1">
              <a:lnSpc>
                <a:spcPts val="2408"/>
              </a:lnSpc>
              <a:buFont typeface="Arial"/>
              <a:buChar char="•"/>
            </a:pP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</a:t>
            </a: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eak Months: </a:t>
            </a:r>
            <a:r>
              <a:rPr lang="en-US" sz="1720" spc="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January, March, May, July, October all hit the highest monthly sales (93 units). These months appear to follow a bi-monthly high pattern.</a:t>
            </a:r>
          </a:p>
          <a:p>
            <a:pPr algn="l" marL="371451" indent="-185726" lvl="1">
              <a:lnSpc>
                <a:spcPts val="2408"/>
              </a:lnSpc>
              <a:buFont typeface="Arial"/>
              <a:buChar char="•"/>
            </a:pP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Dip in</a:t>
            </a: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Year-End:</a:t>
            </a:r>
            <a:r>
              <a:rPr lang="en-US" sz="1720" spc="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November (76) and December (64) show a noticeable decline, which is unusual if these months typically benefit from holiday shopping.</a:t>
            </a:r>
          </a:p>
          <a:p>
            <a:pPr algn="l" marL="371451" indent="-185726" lvl="1">
              <a:lnSpc>
                <a:spcPts val="2408"/>
              </a:lnSpc>
              <a:buFont typeface="Arial"/>
              <a:buChar char="•"/>
            </a:pP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Mid-Y</a:t>
            </a:r>
            <a:r>
              <a:rPr lang="en-US" b="true" sz="1720" spc="1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ear Stability: </a:t>
            </a:r>
            <a:r>
              <a:rPr lang="en-US" sz="1720" spc="1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April, June, August, and September maintain a steady 90 units, indicating a plateau in mid-year performance.</a:t>
            </a:r>
          </a:p>
          <a:p>
            <a:pPr algn="l" marL="0" indent="0" lvl="0">
              <a:lnSpc>
                <a:spcPts val="2268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525887" y="9401175"/>
            <a:ext cx="733413" cy="7334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  <a:ln w="9525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53803" y="1172165"/>
            <a:ext cx="8092350" cy="4562062"/>
          </a:xfrm>
          <a:custGeom>
            <a:avLst/>
            <a:gdLst/>
            <a:ahLst/>
            <a:cxnLst/>
            <a:rect r="r" b="b" t="t" l="l"/>
            <a:pathLst>
              <a:path h="4562062" w="8092350">
                <a:moveTo>
                  <a:pt x="0" y="0"/>
                </a:moveTo>
                <a:lnTo>
                  <a:pt x="8092350" y="0"/>
                </a:lnTo>
                <a:lnTo>
                  <a:pt x="8092350" y="4562062"/>
                </a:lnTo>
                <a:lnTo>
                  <a:pt x="0" y="4562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28575" cap="sq">
            <a:solidFill>
              <a:srgbClr val="E77031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6653718" y="-56515"/>
            <a:ext cx="540017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SALES TRENDS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818269"/>
            <a:ext cx="8115300" cy="283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1559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📅 </a:t>
            </a:r>
            <a:r>
              <a:rPr lang="en-US" sz="1559" spc="179" b="true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Weekly Sales Insights</a:t>
            </a:r>
          </a:p>
          <a:p>
            <a:pPr algn="l" marL="320210" indent="-160105" lvl="1">
              <a:lnSpc>
                <a:spcPts val="2076"/>
              </a:lnSpc>
              <a:buFont typeface="Arial"/>
              <a:buChar char="•"/>
            </a:pPr>
            <a:r>
              <a:rPr lang="en-US" b="true" sz="1483" spc="1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Consistent Sales Pattern:</a:t>
            </a:r>
            <a:r>
              <a:rPr lang="en-US" sz="1483" spc="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Sales are remarkably stable throughout the week, with only a slight uptick on Monday through Wednesday (151 units) compared to other days (150 units).</a:t>
            </a:r>
          </a:p>
          <a:p>
            <a:pPr algn="l" marL="355527" indent="-177764" lvl="1">
              <a:lnSpc>
                <a:spcPts val="4067"/>
              </a:lnSpc>
              <a:buFont typeface="Arial"/>
              <a:buChar char="•"/>
            </a:pPr>
            <a:r>
              <a:rPr lang="en-US" b="true" sz="1646" spc="18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 Clear Peak Day: </a:t>
            </a:r>
            <a:r>
              <a:rPr lang="en-US" sz="1646" spc="1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There's no standout day for higher sales, suggesting customer activity is evenly distributed across the week.</a:t>
            </a:r>
          </a:p>
          <a:p>
            <a:pPr algn="l" marL="320210" indent="-160105" lvl="1">
              <a:lnSpc>
                <a:spcPts val="2076"/>
              </a:lnSpc>
              <a:buFont typeface="Arial"/>
              <a:buChar char="•"/>
            </a:pPr>
            <a:r>
              <a:rPr lang="en-US" b="true" sz="1483" spc="1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 Implication: </a:t>
            </a:r>
            <a:r>
              <a:rPr lang="en-US" sz="1483" spc="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Staffing and inventory can likely remain consistent daily, with minimal need for day-specific adjustments.</a:t>
            </a:r>
          </a:p>
          <a:p>
            <a:pPr algn="l" marL="0" indent="0" lvl="0">
              <a:lnSpc>
                <a:spcPts val="164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339034" y="9532637"/>
            <a:ext cx="1107118" cy="40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5"/>
              </a:lnSpc>
              <a:spcBef>
                <a:spcPct val="0"/>
              </a:spcBef>
            </a:pPr>
            <a:r>
              <a:rPr lang="en-US" b="true" sz="2225">
                <a:solidFill>
                  <a:srgbClr val="0F4662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397022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58257" y="9616097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6" y="0"/>
                </a:lnTo>
                <a:lnTo>
                  <a:pt x="1571486" y="233758"/>
                </a:lnTo>
                <a:lnTo>
                  <a:pt x="0" y="23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14312"/>
            <a:ext cx="9107657" cy="5138796"/>
          </a:xfrm>
          <a:custGeom>
            <a:avLst/>
            <a:gdLst/>
            <a:ahLst/>
            <a:cxnLst/>
            <a:rect r="r" b="b" t="t" l="l"/>
            <a:pathLst>
              <a:path h="5138796" w="9107657">
                <a:moveTo>
                  <a:pt x="0" y="0"/>
                </a:moveTo>
                <a:lnTo>
                  <a:pt x="9107657" y="0"/>
                </a:lnTo>
                <a:lnTo>
                  <a:pt x="9107657" y="5138797"/>
                </a:lnTo>
                <a:lnTo>
                  <a:pt x="0" y="5138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87"/>
            </a:stretch>
          </a:blipFill>
          <a:ln w="28575" cap="sq">
            <a:solidFill>
              <a:srgbClr val="E87031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7209042" y="-56515"/>
            <a:ext cx="544140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SALES 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798" y="5557331"/>
            <a:ext cx="6971502" cy="341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772" spc="2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lang="en-US" sz="1772" spc="203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Performance Observations</a:t>
            </a:r>
          </a:p>
          <a:p>
            <a:pPr algn="l" marL="346275" indent="-173137" lvl="1">
              <a:lnSpc>
                <a:spcPts val="2245"/>
              </a:lnSpc>
              <a:buFont typeface="Arial"/>
              <a:buChar char="•"/>
            </a:pPr>
            <a:r>
              <a:rPr lang="en-US" b="true" sz="1603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Rapid Growth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jump frm 2 to 365 sales between 2013 and 2014 is dramatic—an increase of over 18,000%. This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ik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flects 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jor expansion or successful launch.</a:t>
            </a:r>
          </a:p>
          <a:p>
            <a:pPr algn="l">
              <a:lnSpc>
                <a:spcPts val="2245"/>
              </a:lnSpc>
            </a:pPr>
          </a:p>
          <a:p>
            <a:pPr algn="l" marL="346275" indent="-173137" lvl="1">
              <a:lnSpc>
                <a:spcPts val="2245"/>
              </a:lnSpc>
              <a:buFont typeface="Arial"/>
              <a:buChar char="•"/>
            </a:pPr>
            <a:r>
              <a:rPr lang="en-US" b="true" sz="1603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Plateau in 2015: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Maintaining the same sales count as 2014 implies consistent performance but no growth.</a:t>
            </a:r>
          </a:p>
          <a:p>
            <a:pPr algn="l">
              <a:lnSpc>
                <a:spcPts val="2245"/>
              </a:lnSpc>
            </a:pPr>
          </a:p>
          <a:p>
            <a:pPr algn="l" marL="346275" indent="-173137" lvl="1">
              <a:lnSpc>
                <a:spcPts val="2245"/>
              </a:lnSpc>
              <a:buFont typeface="Arial"/>
              <a:buChar char="•"/>
            </a:pPr>
            <a:r>
              <a:rPr lang="en-US" b="true" sz="1603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</a:t>
            </a:r>
            <a:r>
              <a:rPr lang="en-US" b="true" sz="1603" spc="1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 in 2016: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12% d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603" spc="1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compared to the previous two years. This could be due to external factors, reduced demand, or internal shifts.</a:t>
            </a:r>
          </a:p>
          <a:p>
            <a:pPr algn="l" marL="0" indent="0" lvl="0">
              <a:lnSpc>
                <a:spcPts val="224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798" y="1157162"/>
            <a:ext cx="6971502" cy="444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1984" spc="228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📈 Sales Volume Trends</a:t>
            </a:r>
          </a:p>
          <a:p>
            <a:pPr algn="l" marL="387653" indent="-193827" lvl="1">
              <a:lnSpc>
                <a:spcPts val="2513"/>
              </a:lnSpc>
              <a:buFont typeface="Arial"/>
              <a:buChar char="•"/>
            </a:pPr>
            <a:r>
              <a:rPr lang="en-US" b="true" sz="1795" spc="2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2013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Extremely low sales count (2), contributing just 0.19% of total sales. This likely marks the start of data collection or business operations.</a:t>
            </a:r>
          </a:p>
          <a:p>
            <a:pPr algn="l">
              <a:lnSpc>
                <a:spcPts val="2513"/>
              </a:lnSpc>
            </a:pPr>
          </a:p>
          <a:p>
            <a:pPr algn="l" marL="387653" indent="-193827" lvl="1">
              <a:lnSpc>
                <a:spcPts val="2513"/>
              </a:lnSpc>
              <a:buFont typeface="Arial"/>
              <a:buChar char="•"/>
            </a:pPr>
            <a:r>
              <a:rPr lang="en-US" b="true" sz="1795" spc="2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2014 &amp;</a:t>
            </a:r>
            <a:r>
              <a:rPr lang="en-US" b="true" sz="1795" spc="2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2015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Id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tical performance with 365 sales each year, making up 34.66% of total sales per year. This suggests strong growth and stabilization after the init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y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513"/>
              </a:lnSpc>
            </a:pPr>
          </a:p>
          <a:p>
            <a:pPr algn="l" marL="387653" indent="-193827" lvl="1">
              <a:lnSpc>
                <a:spcPts val="2513"/>
              </a:lnSpc>
              <a:buFont typeface="Arial"/>
              <a:buChar char="•"/>
            </a:pPr>
            <a:r>
              <a:rPr lang="en-US" b="true" sz="1795" spc="2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2016: 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795" spc="2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decline to 321 sales, representing 30.48%. While still solid, this drop may indicate emerging challenges or market saturation.</a:t>
            </a:r>
          </a:p>
          <a:p>
            <a:pPr algn="l" marL="0" indent="0" lvl="0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76934"/>
            <a:ext cx="9107657" cy="252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spc="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 </a:t>
            </a:r>
            <a:r>
              <a:rPr lang="en-US" sz="2072" spc="238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Strategic Implications</a:t>
            </a:r>
          </a:p>
          <a:p>
            <a:pPr algn="l" marL="380675" indent="-190337" lvl="1">
              <a:lnSpc>
                <a:spcPts val="2468"/>
              </a:lnSpc>
              <a:buFont typeface="Arial"/>
              <a:buChar char="•"/>
            </a:pP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Invest</a:t>
            </a: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igate 2016 Decline: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Understanding what caused the drop competition, pricing,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roduct ch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anges c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ould help reverse the trend.</a:t>
            </a:r>
          </a:p>
          <a:p>
            <a:pPr algn="l" marL="380675" indent="-190337" lvl="1">
              <a:lnSpc>
                <a:spcPts val="2468"/>
              </a:lnSpc>
              <a:buFont typeface="Arial"/>
              <a:buChar char="•"/>
            </a:pP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Lev</a:t>
            </a: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erage 2014–2015 Success: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Analyze what worked during those peak years to replicate or adapt those strategies.</a:t>
            </a:r>
          </a:p>
          <a:p>
            <a:pPr algn="l" marL="380675" indent="-190337" lvl="1">
              <a:lnSpc>
                <a:spcPts val="2468"/>
              </a:lnSpc>
              <a:buFont typeface="Arial"/>
              <a:buChar char="•"/>
            </a:pP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Consi</a:t>
            </a:r>
            <a:r>
              <a:rPr lang="en-US" b="true" sz="1763" spc="2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der Diversification: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lang="en-US" sz="1763" spc="2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growth is plateauing, exploring new markets or product lines might reignite momentum.</a:t>
            </a:r>
          </a:p>
          <a:p>
            <a:pPr algn="l" marL="0" indent="0" lvl="0">
              <a:lnSpc>
                <a:spcPts val="23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58257" y="9616097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6" y="0"/>
                </a:lnTo>
                <a:lnTo>
                  <a:pt x="1571486" y="233758"/>
                </a:lnTo>
                <a:lnTo>
                  <a:pt x="0" y="23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9064" y="1149841"/>
            <a:ext cx="7219193" cy="4187132"/>
          </a:xfrm>
          <a:custGeom>
            <a:avLst/>
            <a:gdLst/>
            <a:ahLst/>
            <a:cxnLst/>
            <a:rect r="r" b="b" t="t" l="l"/>
            <a:pathLst>
              <a:path h="4187132" w="7219193">
                <a:moveTo>
                  <a:pt x="0" y="0"/>
                </a:moveTo>
                <a:lnTo>
                  <a:pt x="7219193" y="0"/>
                </a:lnTo>
                <a:lnTo>
                  <a:pt x="7219193" y="4187132"/>
                </a:lnTo>
                <a:lnTo>
                  <a:pt x="0" y="4187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E87031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735876" y="1149841"/>
            <a:ext cx="8523424" cy="4187132"/>
          </a:xfrm>
          <a:custGeom>
            <a:avLst/>
            <a:gdLst/>
            <a:ahLst/>
            <a:cxnLst/>
            <a:rect r="r" b="b" t="t" l="l"/>
            <a:pathLst>
              <a:path h="4187132" w="8523424">
                <a:moveTo>
                  <a:pt x="0" y="0"/>
                </a:moveTo>
                <a:lnTo>
                  <a:pt x="8523424" y="0"/>
                </a:lnTo>
                <a:lnTo>
                  <a:pt x="8523424" y="4187132"/>
                </a:lnTo>
                <a:lnTo>
                  <a:pt x="0" y="4187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28575" cap="sq">
            <a:solidFill>
              <a:srgbClr val="E87031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491952" y="-56515"/>
            <a:ext cx="712692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QUANTITY</a:t>
            </a: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TRENDS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9064" y="5511471"/>
            <a:ext cx="7398709" cy="39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553" spc="1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📊</a:t>
            </a:r>
            <a:r>
              <a:rPr lang="en-US" sz="1553" spc="178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 Quarterly Sales </a:t>
            </a:r>
            <a:r>
              <a:rPr lang="en-US" sz="1553" spc="178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Ins</a:t>
            </a:r>
            <a:r>
              <a:rPr lang="en-US" sz="1553" spc="178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ights</a:t>
            </a:r>
          </a:p>
          <a:p>
            <a:pPr algn="l" marL="364589" indent="-182294" lvl="1">
              <a:lnSpc>
                <a:spcPts val="2651"/>
              </a:lnSpc>
              <a:buFont typeface="Arial"/>
              <a:buChar char="•"/>
            </a:pPr>
            <a:r>
              <a:rPr lang="en-US" b="true" sz="1688" spc="1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Dominance of Loss Sales: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ross a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quarters, the quantity sold under "Loss" classification far exceeds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"P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rofit". For ex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ample, Q2 sh</a:t>
            </a:r>
            <a:r>
              <a:rPr lang="en-US" sz="1688" spc="19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ows the highest loss volume at 1,439,952 units (27.27%), while profit sales are only 229,849 units (4.35%).</a:t>
            </a:r>
          </a:p>
          <a:p>
            <a:pPr algn="l" marL="299819" indent="-149909" lvl="1">
              <a:lnSpc>
                <a:spcPts val="2180"/>
              </a:lnSpc>
              <a:buFont typeface="Arial"/>
              <a:buChar char="•"/>
            </a:pPr>
            <a:r>
              <a:rPr lang="en-US" b="true" sz="1388" spc="1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Quart</a:t>
            </a:r>
            <a:r>
              <a:rPr lang="en-US" b="true" sz="1388" spc="1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 2 Risk Zone: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Q2 has the highest loss volume and percentage, indicating potential issues with pricing, cost control, or product performance during this period.</a:t>
            </a:r>
          </a:p>
          <a:p>
            <a:pPr algn="l" marL="299819" indent="-149909" lvl="1">
              <a:lnSpc>
                <a:spcPts val="2180"/>
              </a:lnSpc>
              <a:buFont typeface="Arial"/>
              <a:buChar char="•"/>
            </a:pPr>
            <a:r>
              <a:rPr lang="en-US" b="true" sz="1388" spc="1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Quarter 4 Impr</a:t>
            </a:r>
            <a:r>
              <a:rPr lang="en-US" b="true" sz="1388" spc="1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ovement: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d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gn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ifica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 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Q4</a:t>
            </a:r>
            <a:r>
              <a:rPr lang="en-US" sz="1388" spc="1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685,868 units (12.99%), while profit sales rise to 321,420 units (6.09%), suggesting better margin management or seasonal demand optimization.</a:t>
            </a:r>
          </a:p>
          <a:p>
            <a:pPr algn="l" marL="0" indent="0" lvl="0">
              <a:lnSpc>
                <a:spcPts val="21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735876" y="5515031"/>
            <a:ext cx="8869801" cy="361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503" spc="172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🌤️ Seasonal Sales </a:t>
            </a:r>
            <a:r>
              <a:rPr lang="en-US" sz="1503" spc="172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Ins</a:t>
            </a:r>
            <a:r>
              <a:rPr lang="en-US" sz="1503" spc="172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ights</a:t>
            </a:r>
          </a:p>
          <a:p>
            <a:pPr algn="l" marL="308442" indent="-154221" lvl="1">
              <a:lnSpc>
                <a:spcPts val="2485"/>
              </a:lnSpc>
              <a:buFont typeface="Arial"/>
              <a:buChar char="•"/>
            </a:pP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Autu</a:t>
            </a: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mn &amp; Winter Loss Burden: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These seasons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 the highest loss volumes </a:t>
            </a:r>
          </a:p>
          <a:p>
            <a:pPr algn="l" marL="308442" indent="-154221" lvl="1">
              <a:lnSpc>
                <a:spcPts val="2485"/>
              </a:lnSpc>
              <a:buFont typeface="Arial"/>
              <a:buChar char="•"/>
            </a:pP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Autumn: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1,290,083 (24.43%), </a:t>
            </a:r>
          </a:p>
          <a:p>
            <a:pPr algn="l" marL="308442" indent="-154221" lvl="1">
              <a:lnSpc>
                <a:spcPts val="2485"/>
              </a:lnSpc>
              <a:buFont typeface="Arial"/>
              <a:buChar char="•"/>
            </a:pP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Winter: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1,239,822 (23.48%) indicating a need to reassess product mix or pricing strategies d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 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hese p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308442" indent="-154221" lvl="1">
              <a:lnSpc>
                <a:spcPts val="2485"/>
              </a:lnSpc>
              <a:buFont typeface="Arial"/>
              <a:buChar char="•"/>
            </a:pP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Spring Profit Peak: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Spring stands out with the highest profit volume (389,792 units) and percentage (7.38%), suggesting favourable market conditions or successful campaigns.</a:t>
            </a:r>
          </a:p>
          <a:p>
            <a:pPr algn="l" marL="308442" indent="-154221" lvl="1">
              <a:lnSpc>
                <a:spcPts val="2485"/>
              </a:lnSpc>
              <a:buFont typeface="Arial"/>
              <a:buChar char="•"/>
            </a:pPr>
            <a:r>
              <a:rPr lang="en-US" b="true" sz="1428" spc="1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Summer Underperformance: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Despi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 m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los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28" spc="1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volume (922,152 units), profit sales are extremely low (4,932 units, 0.26%), pointing to inefficiencies or misaligned offerings.</a:t>
            </a:r>
          </a:p>
          <a:p>
            <a:pPr algn="l" marL="0" indent="0" lvl="0">
              <a:lnSpc>
                <a:spcPts val="14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397022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58257" y="9616097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6" y="0"/>
                </a:lnTo>
                <a:lnTo>
                  <a:pt x="1571486" y="233758"/>
                </a:lnTo>
                <a:lnTo>
                  <a:pt x="0" y="23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155185"/>
            <a:ext cx="9872205" cy="4960783"/>
          </a:xfrm>
          <a:custGeom>
            <a:avLst/>
            <a:gdLst/>
            <a:ahLst/>
            <a:cxnLst/>
            <a:rect r="r" b="b" t="t" l="l"/>
            <a:pathLst>
              <a:path h="4960783" w="9872205">
                <a:moveTo>
                  <a:pt x="0" y="0"/>
                </a:moveTo>
                <a:lnTo>
                  <a:pt x="9872205" y="0"/>
                </a:lnTo>
                <a:lnTo>
                  <a:pt x="9872205" y="4960783"/>
                </a:lnTo>
                <a:lnTo>
                  <a:pt x="0" y="4960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E87031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878942" y="-114300"/>
            <a:ext cx="69669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QUANTITY </a:t>
            </a: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16594" y="1031360"/>
            <a:ext cx="6740555" cy="546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6"/>
              </a:lnSpc>
            </a:pPr>
            <a:r>
              <a:rPr lang="en-US" sz="2078" spc="23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📊 Margin &amp; Co</a:t>
            </a:r>
            <a:r>
              <a:rPr lang="en-US" sz="2078" spc="23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st Eff</a:t>
            </a:r>
            <a:r>
              <a:rPr lang="en-US" sz="2078" spc="23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iciency Breakdown</a:t>
            </a:r>
          </a:p>
          <a:p>
            <a:pPr algn="l">
              <a:lnSpc>
                <a:spcPts val="3616"/>
              </a:lnSpc>
            </a:pPr>
          </a:p>
          <a:p>
            <a:pPr algn="l" marL="331873" indent="-165937" lvl="1">
              <a:lnSpc>
                <a:spcPts val="2674"/>
              </a:lnSpc>
              <a:buFont typeface="Arial"/>
              <a:buChar char="•"/>
            </a:pPr>
            <a:r>
              <a:rPr lang="en-US" b="true" sz="1537" spc="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Overcosted Negative Margin: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This category dominates with 4,184,764 units sold, indicating a significant portion of sales are occurring at a loss a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 with poo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cost efficiency.</a:t>
            </a:r>
          </a:p>
          <a:p>
            <a:pPr algn="l">
              <a:lnSpc>
                <a:spcPts val="2674"/>
              </a:lnSpc>
            </a:pPr>
          </a:p>
          <a:p>
            <a:pPr algn="l" marL="331873" indent="-165937" lvl="1">
              <a:lnSpc>
                <a:spcPts val="2674"/>
              </a:lnSpc>
              <a:buFont typeface="Arial"/>
              <a:buChar char="•"/>
            </a:pPr>
            <a:r>
              <a:rPr lang="en-US" b="true" sz="1537" spc="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Effic</a:t>
            </a:r>
            <a:r>
              <a:rPr lang="en-US" b="true" sz="1537" spc="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ient Low Margin: 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697,169 units sold, this segment reflects operational efficiency but limited profitability—possibly due to competitive pricing or low-margin products.</a:t>
            </a:r>
          </a:p>
          <a:p>
            <a:pPr algn="l" marL="331873" indent="-165937" lvl="1">
              <a:lnSpc>
                <a:spcPts val="2674"/>
              </a:lnSpc>
              <a:buFont typeface="Arial"/>
              <a:buChar char="•"/>
            </a:pPr>
          </a:p>
          <a:p>
            <a:pPr algn="l" marL="331873" indent="-165937" lvl="1">
              <a:lnSpc>
                <a:spcPts val="2674"/>
              </a:lnSpc>
              <a:buFont typeface="Arial"/>
              <a:buChar char="•"/>
            </a:pPr>
            <a:r>
              <a:rPr lang="en-US" b="true" sz="1537" spc="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Effici</a:t>
            </a:r>
            <a:r>
              <a:rPr lang="en-US" b="true" sz="1537" spc="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ent High Margin: 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sm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allest</a:t>
            </a:r>
            <a:r>
              <a:rPr lang="en-US" sz="1537" spc="1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segment at 397,939 units sold, yet likely the most profitable per unit, suggesting a niche or premium offering.</a:t>
            </a:r>
          </a:p>
          <a:p>
            <a:pPr algn="l" marL="0" indent="0" lvl="0">
              <a:lnSpc>
                <a:spcPts val="160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08914" y="6308764"/>
            <a:ext cx="16700849" cy="291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🔍 Strategic Ob</a:t>
            </a: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ervations</a:t>
            </a:r>
          </a:p>
          <a:p>
            <a:pPr algn="l" marL="360061" indent="-180031" lvl="1">
              <a:lnSpc>
                <a:spcPts val="2501"/>
              </a:lnSpc>
              <a:buFont typeface="Arial"/>
              <a:buChar char="•"/>
            </a:pPr>
            <a:r>
              <a:rPr lang="en-US" b="true" sz="1667" spc="1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Profitability Risk: 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overwhelming volume in the "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Overcosted Negative Margin" category signals a major concern high sales volume is not translati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 into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financial health.</a:t>
            </a:r>
          </a:p>
          <a:p>
            <a:pPr algn="l" marL="360061" indent="-180031" lvl="1">
              <a:lnSpc>
                <a:spcPts val="2501"/>
              </a:lnSpc>
              <a:buFont typeface="Arial"/>
              <a:buChar char="•"/>
            </a:pPr>
            <a:r>
              <a:rPr lang="en-US" b="true" sz="1667" spc="1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Efficiency vs. Margin Trade-off: 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"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ient Low Margin" has nearly double the volume of "Efficient High Margin", the latter likely contributes more to net profit.</a:t>
            </a:r>
          </a:p>
          <a:p>
            <a:pPr algn="l">
              <a:lnSpc>
                <a:spcPts val="2501"/>
              </a:lnSpc>
            </a:pP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This highlights the need to balance volume with margin.</a:t>
            </a:r>
          </a:p>
          <a:p>
            <a:pPr algn="l" marL="360061" indent="-180031" lvl="1">
              <a:lnSpc>
                <a:spcPts val="2501"/>
              </a:lnSpc>
              <a:buFont typeface="Arial"/>
              <a:buChar char="•"/>
            </a:pPr>
            <a:r>
              <a:rPr lang="en-US" b="true" sz="1667" spc="1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Opportunity in High-Margin Efficiency: 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Scaling the "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</a:t>
            </a:r>
            <a:r>
              <a:rPr lang="en-US" sz="1667" spc="1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 High Margin" segment could improve overall profitability without sacrificing operational efficiency.</a:t>
            </a:r>
          </a:p>
          <a:p>
            <a:pPr algn="l">
              <a:lnSpc>
                <a:spcPts val="250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397022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76673" y="9662743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7" y="0"/>
                </a:lnTo>
                <a:lnTo>
                  <a:pt x="1571487" y="233759"/>
                </a:lnTo>
                <a:lnTo>
                  <a:pt x="0" y="23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24775" y="1230908"/>
            <a:ext cx="10885836" cy="4327120"/>
          </a:xfrm>
          <a:custGeom>
            <a:avLst/>
            <a:gdLst/>
            <a:ahLst/>
            <a:cxnLst/>
            <a:rect r="r" b="b" t="t" l="l"/>
            <a:pathLst>
              <a:path h="4327120" w="10885836">
                <a:moveTo>
                  <a:pt x="0" y="0"/>
                </a:moveTo>
                <a:lnTo>
                  <a:pt x="10885836" y="0"/>
                </a:lnTo>
                <a:lnTo>
                  <a:pt x="10885836" y="4327120"/>
                </a:lnTo>
                <a:lnTo>
                  <a:pt x="0" y="4327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E77031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878942" y="-114300"/>
            <a:ext cx="69669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QUANTITY </a:t>
            </a: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74511"/>
            <a:ext cx="7929761" cy="344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9"/>
              </a:lnSpc>
            </a:pPr>
            <a:r>
              <a:rPr lang="en-US" b="true" sz="1559" spc="179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  High Volume Drives Gross </a:t>
            </a:r>
            <a:r>
              <a:rPr lang="en-US" b="true" sz="1559" spc="179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Profit — But Not A</a:t>
            </a:r>
            <a:r>
              <a:rPr lang="en-US" b="true" sz="1559" spc="179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lone</a:t>
            </a:r>
          </a:p>
          <a:p>
            <a:pPr algn="just" marL="336632" indent="-168316" lvl="1">
              <a:lnSpc>
                <a:spcPts val="2479"/>
              </a:lnSpc>
              <a:buFont typeface="Arial"/>
              <a:buChar char="•"/>
            </a:pP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Every entry includes a High Volume component, confirming that</a:t>
            </a: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large sales volumes are a major contributor to gross profit.</a:t>
            </a:r>
          </a:p>
          <a:p>
            <a:pPr algn="just" marL="336632" indent="-168316" lvl="1">
              <a:lnSpc>
                <a:spcPts val="2479"/>
              </a:lnSpc>
              <a:buFont typeface="Arial"/>
              <a:buChar char="•"/>
            </a:pP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However, many days also include Medium and Low Volume contributions, showing that diverse volume tiers can still yi</a:t>
            </a: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eld stro</a:t>
            </a: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ng profit.</a:t>
            </a:r>
          </a:p>
          <a:p>
            <a:pPr algn="just">
              <a:lnSpc>
                <a:spcPts val="2479"/>
              </a:lnSpc>
            </a:pPr>
            <a:r>
              <a:rPr lang="en-US" sz="1559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1559" spc="179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M</a:t>
            </a:r>
            <a:r>
              <a:rPr lang="en-US" b="true" sz="1559" spc="179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ixed Volume Days Perform Well</a:t>
            </a:r>
          </a:p>
          <a:p>
            <a:pPr algn="just" marL="336632" indent="-168316" lvl="1">
              <a:lnSpc>
                <a:spcPts val="2479"/>
              </a:lnSpc>
              <a:buFont typeface="Arial"/>
              <a:buChar char="•"/>
            </a:pP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Several top-performing days (e.g., entries with 3 volume tiers) show balanced contributions:</a:t>
            </a:r>
          </a:p>
          <a:p>
            <a:pPr algn="just" marL="673265" indent="-224422" lvl="2">
              <a:lnSpc>
                <a:spcPts val="2479"/>
              </a:lnSpc>
              <a:buFont typeface="Arial"/>
              <a:buChar char="⚬"/>
            </a:pPr>
            <a:r>
              <a:rPr lang="en-US" b="true" sz="1559" spc="1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Example: One day has High (12K), Medium (9.5K), and Low (9.2K) a well-rounded profit profile.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6109" y="5547950"/>
            <a:ext cx="7896884" cy="355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3"/>
              </a:lnSpc>
            </a:pP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  Medium Volume Su</a:t>
            </a: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rges</a:t>
            </a:r>
          </a:p>
          <a:p>
            <a:pPr algn="just" marL="367029" indent="-183514" lvl="1">
              <a:lnSpc>
                <a:spcPts val="2583"/>
              </a:lnSpc>
              <a:buFont typeface="Arial"/>
              <a:buChar char="•"/>
            </a:pP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ays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Medium Volume outperforming H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igh Volume</a:t>
            </a:r>
          </a:p>
          <a:p>
            <a:pPr algn="just" marL="734058" indent="-244686" lvl="2">
              <a:lnSpc>
                <a:spcPts val="2583"/>
              </a:lnSpc>
              <a:buFont typeface="Arial"/>
              <a:buChar char="⚬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Medium (21K) vs. High (20K) indicating that mid-tier SKUs may have better margins or pricing power.</a:t>
            </a:r>
          </a:p>
          <a:p>
            <a:pPr algn="just" marL="367029" indent="-183514" lvl="1">
              <a:lnSpc>
                <a:spcPts val="2583"/>
              </a:lnSpc>
              <a:buFont typeface="Arial"/>
              <a:buChar char="•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prime candidates for margin-focused campaigns.</a:t>
            </a:r>
          </a:p>
          <a:p>
            <a:pPr algn="just">
              <a:lnSpc>
                <a:spcPts val="2583"/>
              </a:lnSpc>
            </a:pPr>
            <a:r>
              <a:rPr lang="en-US" sz="1699" spc="195">
                <a:solidFill>
                  <a:srgbClr val="E7703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Low Volume St</a:t>
            </a: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ill Matters</a:t>
            </a:r>
          </a:p>
          <a:p>
            <a:pPr algn="just" marL="367029" indent="-183514" lvl="1">
              <a:lnSpc>
                <a:spcPts val="2583"/>
              </a:lnSpc>
              <a:buFont typeface="Arial"/>
              <a:buChar char="•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Though less frequent, Low Volume bars contribute meaningfully in some cases (e.g., 6K+).</a:t>
            </a:r>
          </a:p>
          <a:p>
            <a:pPr algn="just" marL="367029" indent="-183514" lvl="1">
              <a:lnSpc>
                <a:spcPts val="2583"/>
              </a:lnSpc>
              <a:buFont typeface="Arial"/>
              <a:buChar char="•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m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 represent premium-priced items or niche products with high unit margins.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397022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76673" y="9662743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7" y="0"/>
                </a:lnTo>
                <a:lnTo>
                  <a:pt x="1571487" y="233759"/>
                </a:lnTo>
                <a:lnTo>
                  <a:pt x="0" y="233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57300"/>
            <a:ext cx="9535538" cy="4481703"/>
          </a:xfrm>
          <a:custGeom>
            <a:avLst/>
            <a:gdLst/>
            <a:ahLst/>
            <a:cxnLst/>
            <a:rect r="r" b="b" t="t" l="l"/>
            <a:pathLst>
              <a:path h="4481703" w="9535538">
                <a:moveTo>
                  <a:pt x="0" y="0"/>
                </a:moveTo>
                <a:lnTo>
                  <a:pt x="9535538" y="0"/>
                </a:lnTo>
                <a:lnTo>
                  <a:pt x="9535538" y="4481703"/>
                </a:lnTo>
                <a:lnTo>
                  <a:pt x="0" y="4481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E77031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878942" y="-114300"/>
            <a:ext cx="69669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QUANTITY </a:t>
            </a: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91403"/>
            <a:ext cx="16230600" cy="284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7"/>
              </a:lnSpc>
            </a:pPr>
            <a:r>
              <a:rPr lang="en-US" b="true" sz="1700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High Gross </a:t>
            </a:r>
            <a:r>
              <a:rPr lang="en-US" b="true" sz="1700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Profit P</a:t>
            </a:r>
            <a:r>
              <a:rPr lang="en-US" b="true" sz="1700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er Unit Despite High Quantity</a:t>
            </a:r>
          </a:p>
          <a:p>
            <a:pPr algn="just" marL="367031" indent="-183515" lvl="1">
              <a:lnSpc>
                <a:spcPts val="3247"/>
              </a:lnSpc>
              <a:buFont typeface="Arial"/>
              <a:buChar char="•"/>
            </a:pP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everal data points show gross profit per unit exceeding 70,000, even when quantity sold is high.</a:t>
            </a:r>
          </a:p>
          <a:p>
            <a:pPr algn="just" marL="367031" indent="-183515" lvl="1">
              <a:lnSpc>
                <a:spcPts val="3247"/>
              </a:lnSpc>
              <a:buFont typeface="Arial"/>
              <a:buChar char="•"/>
            </a:pP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suggests that high volume days can still maintain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stro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 unit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margins, l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ikely due to premium pricing or cost efficiency.</a:t>
            </a:r>
          </a:p>
          <a:p>
            <a:pPr algn="just">
              <a:lnSpc>
                <a:spcPts val="3247"/>
              </a:lnSpc>
            </a:pPr>
            <a:r>
              <a:rPr lang="en-US" b="true" sz="1700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Volatility in Profit Per Unit</a:t>
            </a:r>
          </a:p>
          <a:p>
            <a:pPr algn="just" marL="367031" indent="-183515" lvl="1">
              <a:lnSpc>
                <a:spcPts val="3247"/>
              </a:lnSpc>
              <a:buFont typeface="Arial"/>
              <a:buChar char="•"/>
            </a:pP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values fluctuate significantly from 27K to 83K across different quantity levels.</a:t>
            </a:r>
          </a:p>
          <a:p>
            <a:pPr algn="just" marL="367031" indent="-183515" lvl="1">
              <a:lnSpc>
                <a:spcPts val="3247"/>
              </a:lnSpc>
              <a:buFont typeface="Arial"/>
              <a:buChar char="•"/>
            </a:pPr>
            <a:r>
              <a:rPr lang="en-US" sz="1700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indicates that unit profitability is not strictly tied to volume. Some days with similar quantities yield very different profits per unit.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32271" y="1123950"/>
            <a:ext cx="6227029" cy="407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6"/>
              </a:lnSpc>
            </a:pP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Outlie</a:t>
            </a: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r Days</a:t>
            </a:r>
          </a:p>
          <a:p>
            <a:pPr algn="just" marL="367029" indent="-183514" lvl="1">
              <a:lnSpc>
                <a:spcPts val="3246"/>
              </a:lnSpc>
              <a:buFont typeface="Arial"/>
              <a:buChar char="•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top values (e.g., R83,538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R82,779) are clear outliers.</a:t>
            </a:r>
            <a:r>
              <a:rPr lang="en-US" b="true" sz="1699" spc="19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These may represent:</a:t>
            </a:r>
          </a:p>
          <a:p>
            <a:pPr algn="just" marL="734058" indent="-244686" lvl="2">
              <a:lnSpc>
                <a:spcPts val="3246"/>
              </a:lnSpc>
              <a:buFont typeface="Arial"/>
              <a:buChar char="⚬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High-margin SKUs sold in bulk</a:t>
            </a:r>
          </a:p>
          <a:p>
            <a:pPr algn="just" marL="734058" indent="-244686" lvl="2">
              <a:lnSpc>
                <a:spcPts val="3246"/>
              </a:lnSpc>
              <a:buFont typeface="Arial"/>
              <a:buChar char="⚬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cost control</a:t>
            </a:r>
          </a:p>
          <a:p>
            <a:pPr algn="just" marL="734058" indent="-244686" lvl="2">
              <a:lnSpc>
                <a:spcPts val="3246"/>
              </a:lnSpc>
              <a:buFont typeface="Arial"/>
              <a:buChar char="⚬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pricing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promot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ions</a:t>
            </a:r>
          </a:p>
          <a:p>
            <a:pPr algn="just">
              <a:lnSpc>
                <a:spcPts val="3246"/>
              </a:lnSpc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1699" spc="195">
                <a:solidFill>
                  <a:srgbClr val="E77031"/>
                </a:solidFill>
                <a:latin typeface="Arial Bold"/>
                <a:ea typeface="Arial Bold"/>
                <a:cs typeface="Arial Bold"/>
                <a:sym typeface="Arial Bold"/>
              </a:rPr>
              <a:t>Mid-Range Quantity, Strong Margins</a:t>
            </a:r>
          </a:p>
          <a:p>
            <a:pPr algn="just" marL="367029" indent="-183514" lvl="1">
              <a:lnSpc>
                <a:spcPts val="3246"/>
              </a:lnSpc>
              <a:buFont typeface="Arial"/>
              <a:buChar char="•"/>
            </a:pP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mid quantity days (e.g., 40K–50K rang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e) still deliver unit</a:t>
            </a:r>
            <a:r>
              <a:rPr lang="en-US" sz="1699" spc="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profits above R50K, showing that volume isn’t the only profitability driver.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58257" y="9616097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6" y="0"/>
                </a:lnTo>
                <a:lnTo>
                  <a:pt x="1571486" y="233758"/>
                </a:lnTo>
                <a:lnTo>
                  <a:pt x="0" y="23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48351" y="86125"/>
            <a:ext cx="7019811" cy="77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28"/>
              </a:lnSpc>
              <a:spcBef>
                <a:spcPct val="0"/>
              </a:spcBef>
            </a:pPr>
            <a:r>
              <a:rPr lang="en-US" b="true" sz="4591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🧾 STRATEGIC PROPOSAL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66630"/>
            <a:ext cx="16230600" cy="591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🔑 Key Actions</a:t>
            </a:r>
          </a:p>
          <a:p>
            <a:pPr algn="l">
              <a:lnSpc>
                <a:spcPts val="3157"/>
              </a:lnSpc>
            </a:pPr>
          </a:p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📦</a:t>
            </a: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Product Portfolio Audit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SKUs contributing most to o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vercosted negative-margin sales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Reassess pricing, cost structure,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demand elasticity</a:t>
            </a:r>
          </a:p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📊 </a:t>
            </a: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Margin-Based Segmentation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b="true" sz="2255" spc="2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 products into h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igh-marg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in, low-margin, and negative-margin buckets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b="true" sz="2255" spc="2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Prioritize marketing and inventory for high-margin efficient products</a:t>
            </a:r>
          </a:p>
          <a:p>
            <a:pPr algn="l">
              <a:lnSpc>
                <a:spcPts val="3157"/>
              </a:lnSpc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🤝 </a:t>
            </a: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Sales Incentive Realignment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 sales team KPIs to reward margin contribution over volume alone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 tiered commission structures favouring high-margin sales</a:t>
            </a:r>
          </a:p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⚙️ </a:t>
            </a:r>
            <a:r>
              <a:rPr lang="en-US" sz="2255" spc="25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 Efficiency Enhancements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Streamline supply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for low-margin products to reduce cost base</a:t>
            </a:r>
          </a:p>
          <a:p>
            <a:pPr algn="l" marL="486891" indent="-243445" lvl="1">
              <a:lnSpc>
                <a:spcPts val="3157"/>
              </a:lnSpc>
              <a:buFont typeface="Arial"/>
              <a:buChar char="•"/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Negotiate better vendor terms for high-performing SKUs</a:t>
            </a:r>
          </a:p>
          <a:p>
            <a:pPr algn="l">
              <a:lnSpc>
                <a:spcPts val="25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341091"/>
            <a:ext cx="16230600" cy="151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5" spc="25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            Objective</a:t>
            </a:r>
          </a:p>
          <a:p>
            <a:pPr algn="l">
              <a:lnSpc>
                <a:spcPts val="3157"/>
              </a:lnSpc>
            </a:pP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reliance on o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vercosted negative-margin sales and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</a:t>
            </a:r>
            <a:r>
              <a:rPr lang="en-US" sz="2255" spc="2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crease the share of efficient high-margin transactions, thereby improving overall profitability without sacrificing volume.</a:t>
            </a:r>
          </a:p>
          <a:p>
            <a:pPr algn="l">
              <a:lnSpc>
                <a:spcPts val="250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6525887" y="9366270"/>
            <a:ext cx="733413" cy="73341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  <a:ln w="9525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339034" y="9497732"/>
            <a:ext cx="1107118" cy="40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5"/>
              </a:lnSpc>
              <a:spcBef>
                <a:spcPct val="0"/>
              </a:spcBef>
            </a:pPr>
            <a:r>
              <a:rPr lang="en-US" b="true" sz="2225">
                <a:solidFill>
                  <a:srgbClr val="0F4662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770" y="-219075"/>
            <a:ext cx="18741541" cy="1247775"/>
            <a:chOff x="0" y="0"/>
            <a:chExt cx="4936044" cy="32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96400"/>
            <a:ext cx="16230600" cy="0"/>
          </a:xfrm>
          <a:prstGeom prst="line">
            <a:avLst/>
          </a:prstGeom>
          <a:ln cap="flat" w="762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58257" y="9616097"/>
            <a:ext cx="1571487" cy="233759"/>
          </a:xfrm>
          <a:custGeom>
            <a:avLst/>
            <a:gdLst/>
            <a:ahLst/>
            <a:cxnLst/>
            <a:rect r="r" b="b" t="t" l="l"/>
            <a:pathLst>
              <a:path h="233759" w="1571487">
                <a:moveTo>
                  <a:pt x="0" y="0"/>
                </a:moveTo>
                <a:lnTo>
                  <a:pt x="1571486" y="0"/>
                </a:lnTo>
                <a:lnTo>
                  <a:pt x="1571486" y="233758"/>
                </a:lnTo>
                <a:lnTo>
                  <a:pt x="0" y="23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3069" y="-27408"/>
            <a:ext cx="16330809" cy="77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28"/>
              </a:lnSpc>
              <a:spcBef>
                <a:spcPct val="0"/>
              </a:spcBef>
            </a:pPr>
            <a:r>
              <a:rPr lang="en-US" b="true" sz="4591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📣 MARKET CAMPAIGNS: DRIVING PROFIT-OPTIMIZED GROW</a:t>
            </a:r>
            <a:r>
              <a:rPr lang="en-US" b="true" sz="4591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3069" y="1072533"/>
            <a:ext cx="7780209" cy="738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2107" spc="21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</a:t>
            </a:r>
            <a:r>
              <a:rPr lang="en-US" sz="2107" spc="21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“Smart Valu</a:t>
            </a:r>
            <a:r>
              <a:rPr lang="en-US" sz="2107" spc="21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e” Campaign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Budg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et-conscious customers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Focus: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icient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low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-margin products with bundled offers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</a:t>
            </a: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nnels: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Email, SMS, in-app banners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</a:t>
            </a: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essage: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“Get more for less—smart choices, smarter savings.”</a:t>
            </a:r>
          </a:p>
          <a:p>
            <a:pPr algn="l">
              <a:lnSpc>
                <a:spcPts val="3643"/>
              </a:lnSpc>
            </a:pPr>
          </a:p>
          <a:p>
            <a:pPr algn="l">
              <a:lnSpc>
                <a:spcPts val="4025"/>
              </a:lnSpc>
            </a:pPr>
            <a:r>
              <a:rPr lang="en-US" sz="2107" spc="21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</a:t>
            </a:r>
            <a:r>
              <a:rPr lang="en-US" sz="2107" spc="21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“Premium Picks” Campaign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Target: 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High-value customers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Focus: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Efficient high-margin products with exclusive perks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Channels:</a:t>
            </a: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media, influencer p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nerships, loyalty programs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“El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evate your experience—premium products, premium rewards.”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3277" y="1072533"/>
            <a:ext cx="8666675" cy="64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2107" spc="21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</a:t>
            </a:r>
            <a:r>
              <a:rPr lang="en-US" sz="2107" spc="21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 “Profit Pulse” Internal Campaign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Sales and operations teams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Focus: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Educate on margin impact and promote strategic selling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Channels: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Internal newsletters, dashboards, gamified leaderboards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“Sell smart, earn smarter—every margin counts.”</a:t>
            </a:r>
          </a:p>
          <a:p>
            <a:pPr algn="l">
              <a:lnSpc>
                <a:spcPts val="3643"/>
              </a:lnSpc>
            </a:pPr>
          </a:p>
          <a:p>
            <a:pPr algn="l">
              <a:lnSpc>
                <a:spcPts val="4025"/>
              </a:lnSpc>
            </a:pPr>
            <a:r>
              <a:rPr lang="en-US" sz="2107" spc="21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</a:t>
            </a:r>
            <a:r>
              <a:rPr lang="en-US" sz="2107" spc="219" b="true">
                <a:solidFill>
                  <a:srgbClr val="E87031"/>
                </a:solidFill>
                <a:latin typeface="Arial Bold"/>
                <a:ea typeface="Arial Bold"/>
                <a:cs typeface="Arial Bold"/>
                <a:sym typeface="Arial Bold"/>
              </a:rPr>
              <a:t>“Seasonal Shift” Campaign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General consumer base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Focus: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Redirect seasonal demand toward profitable SKUs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Channels: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Seasonal landing pages, retargeting ads</a:t>
            </a:r>
          </a:p>
          <a:p>
            <a:pPr algn="l" marL="411850" indent="-205925" lvl="1">
              <a:lnSpc>
                <a:spcPts val="3643"/>
              </a:lnSpc>
              <a:buFont typeface="Arial"/>
              <a:buChar char="•"/>
            </a:pPr>
            <a:r>
              <a:rPr lang="en-US" b="true" sz="1907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Message:</a:t>
            </a:r>
            <a:r>
              <a:rPr lang="en-US" sz="1907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“New season, new savings—shop smarter this spring.”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6256" y="4231184"/>
            <a:ext cx="1065548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Focusing on strategic, margin-conscious sales while selling smarter rather than simply selling more is the pathway to achieving sustainable resilience, enhanced profitability, and a lasting competitive advantage.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cap="flat" w="76200">
            <a:solidFill>
              <a:srgbClr val="E770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cap="flat" w="76200">
            <a:solidFill>
              <a:srgbClr val="E770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4705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801952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6770" y="-138430"/>
            <a:ext cx="18741541" cy="1247775"/>
            <a:chOff x="0" y="0"/>
            <a:chExt cx="4936044" cy="3286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36044" cy="328632"/>
            </a:xfrm>
            <a:custGeom>
              <a:avLst/>
              <a:gdLst/>
              <a:ahLst/>
              <a:cxnLst/>
              <a:rect r="r" b="b" t="t" l="l"/>
              <a:pathLst>
                <a:path h="328632" w="4936044">
                  <a:moveTo>
                    <a:pt x="0" y="0"/>
                  </a:moveTo>
                  <a:lnTo>
                    <a:pt x="4936044" y="0"/>
                  </a:lnTo>
                  <a:lnTo>
                    <a:pt x="4936044" y="328632"/>
                  </a:lnTo>
                  <a:lnTo>
                    <a:pt x="0" y="328632"/>
                  </a:lnTo>
                  <a:close/>
                </a:path>
              </a:pathLst>
            </a:custGeom>
            <a:solidFill>
              <a:srgbClr val="0F4662"/>
            </a:solidFill>
            <a:ln w="28575" cap="sq">
              <a:solidFill>
                <a:srgbClr val="E7703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36044" cy="3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711915" y="-114300"/>
            <a:ext cx="486416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751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E770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E770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8904618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3933130" y="3246705"/>
            <a:ext cx="633491" cy="484909"/>
          </a:xfrm>
          <a:custGeom>
            <a:avLst/>
            <a:gdLst/>
            <a:ahLst/>
            <a:cxnLst/>
            <a:rect r="r" b="b" t="t" l="l"/>
            <a:pathLst>
              <a:path h="484909" w="633491">
                <a:moveTo>
                  <a:pt x="633491" y="0"/>
                </a:moveTo>
                <a:lnTo>
                  <a:pt x="0" y="0"/>
                </a:lnTo>
                <a:lnTo>
                  <a:pt x="0" y="484909"/>
                </a:lnTo>
                <a:lnTo>
                  <a:pt x="633491" y="484909"/>
                </a:lnTo>
                <a:lnTo>
                  <a:pt x="6334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847468"/>
            <a:ext cx="4486069" cy="40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9"/>
              </a:lnSpc>
              <a:spcBef>
                <a:spcPct val="0"/>
              </a:spcBef>
            </a:pPr>
            <a:r>
              <a:rPr lang="en-US" sz="2335" i="true">
                <a:solidFill>
                  <a:srgbClr val="E77031"/>
                </a:solidFill>
                <a:latin typeface="Arial Italics"/>
                <a:ea typeface="Arial Italics"/>
                <a:cs typeface="Arial Italics"/>
                <a:sym typeface="Arial Italics"/>
              </a:rPr>
              <a:t>SINDISWA JACHIN SHONGWE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DAG9W7I5AJc</dc:identifier>
  <dcterms:modified xsi:type="dcterms:W3CDTF">2011-08-01T06:04:30Z</dcterms:modified>
  <cp:revision>1</cp:revision>
  <dc:title>White Blue Simple Modern Enhancing Sales Strategy Presentation</dc:title>
</cp:coreProperties>
</file>